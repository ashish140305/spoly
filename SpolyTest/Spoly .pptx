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70" r:id="rId11"/>
    <p:sldId id="268" r:id="rId12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E67EF-EED1-4F11-9CC0-503C66277E9A}">
  <a:tblStyle styleId="{5A4E67EF-EED1-4F11-9CC0-503C66277E9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97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9467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1801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1587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48891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4d823146d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4d823146d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8382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4d823146d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4d823146d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8598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4d823146d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4d823146d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4988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7278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4d823146d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g3d4d823146d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30809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4d823146d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d4d823146d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72020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4d823146d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d4d823146d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38979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3927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59" b="-9259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28700" y="668427"/>
            <a:ext cx="451941" cy="451941"/>
          </a:xfrm>
          <a:custGeom>
            <a:avLst/>
            <a:gdLst/>
            <a:ahLst/>
            <a:cxnLst/>
            <a:rect l="l" t="t" r="r" b="b"/>
            <a:pathLst>
              <a:path w="451941" h="451941" extrusionOk="0">
                <a:moveTo>
                  <a:pt x="0" y="0"/>
                </a:moveTo>
                <a:lnTo>
                  <a:pt x="451941" y="0"/>
                </a:lnTo>
                <a:lnTo>
                  <a:pt x="451941" y="451941"/>
                </a:lnTo>
                <a:lnTo>
                  <a:pt x="0" y="451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6" name="Google Shape;86;p13"/>
          <p:cNvSpPr/>
          <p:nvPr/>
        </p:nvSpPr>
        <p:spPr>
          <a:xfrm rot="-1045747">
            <a:off x="-3571853" y="2006877"/>
            <a:ext cx="7605479" cy="7006547"/>
          </a:xfrm>
          <a:custGeom>
            <a:avLst/>
            <a:gdLst/>
            <a:ahLst/>
            <a:cxnLst/>
            <a:rect l="l" t="t" r="r" b="b"/>
            <a:pathLst>
              <a:path w="7605479" h="7006547" extrusionOk="0">
                <a:moveTo>
                  <a:pt x="0" y="0"/>
                </a:moveTo>
                <a:lnTo>
                  <a:pt x="7605479" y="0"/>
                </a:lnTo>
                <a:lnTo>
                  <a:pt x="7605479" y="7006547"/>
                </a:lnTo>
                <a:lnTo>
                  <a:pt x="0" y="7006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7" name="Google Shape;87;p13"/>
          <p:cNvSpPr/>
          <p:nvPr/>
        </p:nvSpPr>
        <p:spPr>
          <a:xfrm>
            <a:off x="9590168" y="7027530"/>
            <a:ext cx="494398" cy="494398"/>
          </a:xfrm>
          <a:custGeom>
            <a:avLst/>
            <a:gdLst/>
            <a:ahLst/>
            <a:cxnLst/>
            <a:rect l="l" t="t" r="r" b="b"/>
            <a:pathLst>
              <a:path w="494398" h="494398" extrusionOk="0">
                <a:moveTo>
                  <a:pt x="0" y="0"/>
                </a:moveTo>
                <a:lnTo>
                  <a:pt x="494398" y="0"/>
                </a:lnTo>
                <a:lnTo>
                  <a:pt x="494398" y="494398"/>
                </a:lnTo>
                <a:lnTo>
                  <a:pt x="0" y="4943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8" name="Google Shape;88;p13"/>
          <p:cNvSpPr/>
          <p:nvPr/>
        </p:nvSpPr>
        <p:spPr>
          <a:xfrm>
            <a:off x="13960942" y="2618497"/>
            <a:ext cx="6145867" cy="6311545"/>
          </a:xfrm>
          <a:custGeom>
            <a:avLst/>
            <a:gdLst/>
            <a:ahLst/>
            <a:cxnLst/>
            <a:rect l="l" t="t" r="r" b="b"/>
            <a:pathLst>
              <a:path w="6145867" h="6311545" extrusionOk="0">
                <a:moveTo>
                  <a:pt x="0" y="0"/>
                </a:moveTo>
                <a:lnTo>
                  <a:pt x="6145868" y="0"/>
                </a:lnTo>
                <a:lnTo>
                  <a:pt x="6145868" y="6311545"/>
                </a:lnTo>
                <a:lnTo>
                  <a:pt x="0" y="631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9" name="Google Shape;89;p13"/>
          <p:cNvSpPr txBox="1"/>
          <p:nvPr/>
        </p:nvSpPr>
        <p:spPr>
          <a:xfrm>
            <a:off x="1695851" y="674370"/>
            <a:ext cx="1881132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ARCs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2894289" y="4346390"/>
            <a:ext cx="13208194" cy="231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52" b="1" i="0" u="none" strike="noStrike" cap="none" dirty="0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AI-Powered Notes &amp; </a:t>
            </a:r>
          </a:p>
          <a:p>
            <a:pPr marL="0" marR="0" lvl="0" indent="0" algn="ctr" rtl="0">
              <a:lnSpc>
                <a:spcPct val="115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52" b="1" i="0" u="none" strike="noStrike" cap="none" dirty="0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Diagram Generator</a:t>
            </a:r>
            <a:endParaRPr lang="en-US" dirty="0"/>
          </a:p>
        </p:txBody>
      </p:sp>
      <p:sp>
        <p:nvSpPr>
          <p:cNvPr id="95" name="Google Shape;95;p13"/>
          <p:cNvSpPr txBox="1"/>
          <p:nvPr/>
        </p:nvSpPr>
        <p:spPr>
          <a:xfrm>
            <a:off x="5079806" y="3115725"/>
            <a:ext cx="8128387" cy="1383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52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Spoly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543336" y="7054702"/>
            <a:ext cx="1906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Learn Now!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6220799" y="7816778"/>
            <a:ext cx="5846400" cy="17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Ashish Chaurasiya 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- 12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Aniket </a:t>
            </a:r>
            <a:r>
              <a:rPr lang="en-US" sz="32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Dhoke</a:t>
            </a: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- 17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Vedant Dhotre - 18</a:t>
            </a:r>
            <a:endParaRPr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59" b="-9259"/>
            </a:stretch>
          </a:blipFill>
          <a:ln>
            <a:noFill/>
          </a:ln>
        </p:spPr>
      </p:sp>
      <p:sp>
        <p:nvSpPr>
          <p:cNvPr id="103" name="Google Shape;103;p14"/>
          <p:cNvSpPr/>
          <p:nvPr/>
        </p:nvSpPr>
        <p:spPr>
          <a:xfrm>
            <a:off x="1028700" y="668427"/>
            <a:ext cx="451941" cy="451941"/>
          </a:xfrm>
          <a:custGeom>
            <a:avLst/>
            <a:gdLst/>
            <a:ahLst/>
            <a:cxnLst/>
            <a:rect l="l" t="t" r="r" b="b"/>
            <a:pathLst>
              <a:path w="451941" h="451941" extrusionOk="0">
                <a:moveTo>
                  <a:pt x="0" y="0"/>
                </a:moveTo>
                <a:lnTo>
                  <a:pt x="451941" y="0"/>
                </a:lnTo>
                <a:lnTo>
                  <a:pt x="451941" y="451941"/>
                </a:lnTo>
                <a:lnTo>
                  <a:pt x="0" y="451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4" name="Google Shape;104;p14"/>
          <p:cNvSpPr/>
          <p:nvPr/>
        </p:nvSpPr>
        <p:spPr>
          <a:xfrm>
            <a:off x="10084566" y="0"/>
            <a:ext cx="8235275" cy="10287000"/>
          </a:xfrm>
          <a:custGeom>
            <a:avLst/>
            <a:gdLst/>
            <a:ahLst/>
            <a:cxnLst/>
            <a:rect l="l" t="t" r="r" b="b"/>
            <a:pathLst>
              <a:path w="1275860" h="1593725" extrusionOk="0">
                <a:moveTo>
                  <a:pt x="0" y="0"/>
                </a:moveTo>
                <a:lnTo>
                  <a:pt x="1275860" y="0"/>
                </a:lnTo>
                <a:lnTo>
                  <a:pt x="1275860" y="1593725"/>
                </a:lnTo>
                <a:lnTo>
                  <a:pt x="0" y="1593725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43742" r="-43742"/>
            </a:stretch>
          </a:blipFill>
          <a:ln>
            <a:noFill/>
          </a:ln>
        </p:spPr>
      </p:sp>
      <p:grpSp>
        <p:nvGrpSpPr>
          <p:cNvPr id="105" name="Google Shape;105;p14"/>
          <p:cNvGrpSpPr/>
          <p:nvPr/>
        </p:nvGrpSpPr>
        <p:grpSpPr>
          <a:xfrm>
            <a:off x="10084566" y="-325489"/>
            <a:ext cx="3076894" cy="10612556"/>
            <a:chOff x="0" y="-85725"/>
            <a:chExt cx="810370" cy="2795058"/>
          </a:xfrm>
        </p:grpSpPr>
        <p:sp>
          <p:nvSpPr>
            <p:cNvPr id="106" name="Google Shape;106;p14"/>
            <p:cNvSpPr/>
            <p:nvPr/>
          </p:nvSpPr>
          <p:spPr>
            <a:xfrm>
              <a:off x="0" y="0"/>
              <a:ext cx="810370" cy="2709333"/>
            </a:xfrm>
            <a:custGeom>
              <a:avLst/>
              <a:gdLst/>
              <a:ahLst/>
              <a:cxnLst/>
              <a:rect l="l" t="t" r="r" b="b"/>
              <a:pathLst>
                <a:path w="810370" h="2709333" extrusionOk="0">
                  <a:moveTo>
                    <a:pt x="0" y="0"/>
                  </a:moveTo>
                  <a:lnTo>
                    <a:pt x="810370" y="0"/>
                  </a:lnTo>
                  <a:lnTo>
                    <a:pt x="810370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011558"/>
                </a:gs>
                <a:gs pos="100000">
                  <a:srgbClr val="051454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07" name="Google Shape;107;p14"/>
            <p:cNvSpPr txBox="1"/>
            <p:nvPr/>
          </p:nvSpPr>
          <p:spPr>
            <a:xfrm>
              <a:off x="0" y="-85725"/>
              <a:ext cx="810370" cy="27950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14"/>
          <p:cNvSpPr/>
          <p:nvPr/>
        </p:nvSpPr>
        <p:spPr>
          <a:xfrm>
            <a:off x="-1904045" y="4462650"/>
            <a:ext cx="5481029" cy="5982023"/>
          </a:xfrm>
          <a:custGeom>
            <a:avLst/>
            <a:gdLst/>
            <a:ahLst/>
            <a:cxnLst/>
            <a:rect l="l" t="t" r="r" b="b"/>
            <a:pathLst>
              <a:path w="5481029" h="5982023" extrusionOk="0">
                <a:moveTo>
                  <a:pt x="0" y="0"/>
                </a:moveTo>
                <a:lnTo>
                  <a:pt x="5481028" y="0"/>
                </a:lnTo>
                <a:lnTo>
                  <a:pt x="5481028" y="5982023"/>
                </a:lnTo>
                <a:lnTo>
                  <a:pt x="0" y="5982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3" name="Google Shape;113;p14"/>
          <p:cNvSpPr txBox="1"/>
          <p:nvPr/>
        </p:nvSpPr>
        <p:spPr>
          <a:xfrm>
            <a:off x="1598850" y="1528757"/>
            <a:ext cx="7671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480641" y="3087974"/>
            <a:ext cx="7903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356360" y="2142458"/>
            <a:ext cx="7913490" cy="6047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000" b="1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0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 Bottleneck</a:t>
            </a:r>
            <a:r>
              <a:rPr kumimoji="0" lang="en-US" sz="2000" b="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 Processing audio from long lectures or meetings is highly time-consuming because users must listen to the entire recording just to extract key points.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000" b="0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0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 Goal</a:t>
            </a:r>
            <a:r>
              <a:rPr kumimoji="0" lang="en-US" sz="2000" b="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 To design and develop an automated system consisting of a browser extension and a full-stack web application that rapidly converts speech to text and generates concise summaries.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000" b="0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0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 Impact</a:t>
            </a:r>
            <a:r>
              <a:rPr kumimoji="0" lang="en-US" sz="2000" b="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 This ensures important information is extracted, structured, and understood quickly and efficiently, eliminating the inefficiencies of manual note-taking.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              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/>
          <p:nvPr/>
        </p:nvSpPr>
        <p:spPr>
          <a:xfrm>
            <a:off x="0" y="0"/>
            <a:ext cx="18288000" cy="1029462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59" b="-9259"/>
            </a:stretch>
          </a:blipFill>
          <a:ln>
            <a:noFill/>
          </a:ln>
        </p:spPr>
      </p:sp>
      <p:sp>
        <p:nvSpPr>
          <p:cNvPr id="122" name="Google Shape;122;p15"/>
          <p:cNvSpPr/>
          <p:nvPr/>
        </p:nvSpPr>
        <p:spPr>
          <a:xfrm>
            <a:off x="1028700" y="668427"/>
            <a:ext cx="451941" cy="451941"/>
          </a:xfrm>
          <a:custGeom>
            <a:avLst/>
            <a:gdLst/>
            <a:ahLst/>
            <a:cxnLst/>
            <a:rect l="l" t="t" r="r" b="b"/>
            <a:pathLst>
              <a:path w="451941" h="451941" extrusionOk="0">
                <a:moveTo>
                  <a:pt x="0" y="0"/>
                </a:moveTo>
                <a:lnTo>
                  <a:pt x="451941" y="0"/>
                </a:lnTo>
                <a:lnTo>
                  <a:pt x="451941" y="451941"/>
                </a:lnTo>
                <a:lnTo>
                  <a:pt x="0" y="451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5" name="Google Shape;125;p15"/>
          <p:cNvSpPr txBox="1"/>
          <p:nvPr/>
        </p:nvSpPr>
        <p:spPr>
          <a:xfrm>
            <a:off x="1695851" y="674370"/>
            <a:ext cx="1881132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Wardiere Inc.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5662204" y="674370"/>
            <a:ext cx="1881132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203434" y="674370"/>
            <a:ext cx="1881132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About Us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0744664" y="674370"/>
            <a:ext cx="1881132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Wardiere Inc.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6032526" y="674370"/>
            <a:ext cx="1226774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bg1"/>
                </a:solidFill>
                <a:sym typeface="Arial"/>
              </a:rPr>
              <a:t>Contact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28700" y="1229693"/>
            <a:ext cx="16704664" cy="8125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Literature Survey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Current Landscape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Existing solutions accurately generate transcripts and structured text using models like </a:t>
            </a:r>
            <a:r>
              <a:rPr kumimoji="0" lang="en-U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OpenAI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Whisper.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Research Gap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Current platforms lack the native capabilities to generate complex visual diagrams (like flowcharts or architecture maps) directly from contextual audio.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Processing Limitations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Raw Automatic Speech Recognition (ASR) pipelines often produce unreadable text without punctuation, and existing meeting bots fail to dynamically generate visual aids during the flow of a meeting.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667" y="2258393"/>
            <a:ext cx="17448550" cy="72059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60" b="-9260"/>
            </a:stretch>
          </a:blipFill>
          <a:ln>
            <a:noFill/>
          </a:ln>
        </p:spPr>
      </p:sp>
      <p:sp>
        <p:nvSpPr>
          <p:cNvPr id="138" name="Google Shape;138;p16"/>
          <p:cNvSpPr/>
          <p:nvPr/>
        </p:nvSpPr>
        <p:spPr>
          <a:xfrm>
            <a:off x="1028700" y="668427"/>
            <a:ext cx="451941" cy="451941"/>
          </a:xfrm>
          <a:custGeom>
            <a:avLst/>
            <a:gdLst/>
            <a:ahLst/>
            <a:cxnLst/>
            <a:rect l="l" t="t" r="r" b="b"/>
            <a:pathLst>
              <a:path w="451941" h="451941" extrusionOk="0">
                <a:moveTo>
                  <a:pt x="0" y="0"/>
                </a:moveTo>
                <a:lnTo>
                  <a:pt x="451941" y="0"/>
                </a:lnTo>
                <a:lnTo>
                  <a:pt x="451941" y="451941"/>
                </a:lnTo>
                <a:lnTo>
                  <a:pt x="0" y="451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9" name="Google Shape;139;p16"/>
          <p:cNvSpPr txBox="1"/>
          <p:nvPr/>
        </p:nvSpPr>
        <p:spPr>
          <a:xfrm>
            <a:off x="1695851" y="674370"/>
            <a:ext cx="188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Wardiere Inc.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662204" y="674370"/>
            <a:ext cx="188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203434" y="674370"/>
            <a:ext cx="188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About Us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0744664" y="674370"/>
            <a:ext cx="188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Wardiere Inc.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6032526" y="674370"/>
            <a:ext cx="12267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bg1"/>
                </a:solidFill>
                <a:sym typeface="Arial"/>
              </a:rPr>
              <a:t>Contact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038659" y="1019742"/>
            <a:ext cx="14053822" cy="8771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Proposed Design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Client Extension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 Chrome extension utilizing Manifest V3 captures active tab audio streams.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Frontend Client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UI handles live audio capture, real-time user interactions, and renders Mermaid diagrams.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API Gateway &amp; Backend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server orchestrates the data pipeline between the frontend, the database, and the AI services.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Database &amp; </a:t>
            </a:r>
            <a:r>
              <a:rPr kumimoji="0" lang="en-US" sz="2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Auth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MongoDB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efficiently stores user profiles, historical transcripts, generated summaries, and diagram states, while Clerk securely handles user authentication via </a:t>
            </a:r>
            <a:r>
              <a:rPr kumimoji="0" lang="en-U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webhooks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Google Shape;165;p18"/>
          <p:cNvSpPr/>
          <p:nvPr/>
        </p:nvSpPr>
        <p:spPr>
          <a:xfrm>
            <a:off x="-3557043" y="-5691119"/>
            <a:ext cx="22712801" cy="22712801"/>
          </a:xfrm>
          <a:custGeom>
            <a:avLst/>
            <a:gdLst/>
            <a:ahLst/>
            <a:cxnLst/>
            <a:rect l="l" t="t" r="r" b="b"/>
            <a:pathLst>
              <a:path w="22712801" h="22712801" extrusionOk="0">
                <a:moveTo>
                  <a:pt x="0" y="0"/>
                </a:moveTo>
                <a:lnTo>
                  <a:pt x="22712801" y="0"/>
                </a:lnTo>
                <a:lnTo>
                  <a:pt x="22712801" y="22712801"/>
                </a:lnTo>
                <a:lnTo>
                  <a:pt x="0" y="22712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/>
          <p:nvPr/>
        </p:nvSpPr>
        <p:spPr>
          <a:xfrm>
            <a:off x="-66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60" b="-9260"/>
            </a:stretch>
          </a:blipFill>
          <a:ln>
            <a:noFill/>
          </a:ln>
        </p:spPr>
      </p:sp>
      <p:sp>
        <p:nvSpPr>
          <p:cNvPr id="138" name="Google Shape;138;p16"/>
          <p:cNvSpPr/>
          <p:nvPr/>
        </p:nvSpPr>
        <p:spPr>
          <a:xfrm>
            <a:off x="1028700" y="668427"/>
            <a:ext cx="451941" cy="451941"/>
          </a:xfrm>
          <a:custGeom>
            <a:avLst/>
            <a:gdLst/>
            <a:ahLst/>
            <a:cxnLst/>
            <a:rect l="l" t="t" r="r" b="b"/>
            <a:pathLst>
              <a:path w="451941" h="451941" extrusionOk="0">
                <a:moveTo>
                  <a:pt x="0" y="0"/>
                </a:moveTo>
                <a:lnTo>
                  <a:pt x="451941" y="0"/>
                </a:lnTo>
                <a:lnTo>
                  <a:pt x="451941" y="451941"/>
                </a:lnTo>
                <a:lnTo>
                  <a:pt x="0" y="451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9" name="Google Shape;139;p16"/>
          <p:cNvSpPr txBox="1"/>
          <p:nvPr/>
        </p:nvSpPr>
        <p:spPr>
          <a:xfrm>
            <a:off x="1695851" y="674370"/>
            <a:ext cx="188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Wardiere Inc.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662204" y="674370"/>
            <a:ext cx="188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203434" y="674370"/>
            <a:ext cx="188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About Us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0744664" y="674370"/>
            <a:ext cx="188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Wardiere Inc.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6032526" y="674370"/>
            <a:ext cx="1226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10638"/>
                </a:solidFill>
                <a:latin typeface="Arial"/>
                <a:ea typeface="Arial"/>
                <a:cs typeface="Arial"/>
                <a:sym typeface="Arial"/>
              </a:rPr>
              <a:t>Contact</a:t>
            </a:r>
            <a:endParaRPr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028700" y="1650905"/>
            <a:ext cx="16230526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Hardware and Software Requirements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Hardware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Standard Windows or Linux environment with internet connectivity.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Frontend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React (JSX), </a:t>
            </a:r>
            <a:r>
              <a:rPr kumimoji="0" 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Vite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Tailwind CSS, </a:t>
            </a:r>
            <a:r>
              <a:rPr kumimoji="0" 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Redux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Toolkit, and Clerk-React.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Python, </a:t>
            </a:r>
            <a:r>
              <a:rPr kumimoji="0" 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Uvicorn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PyMongo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and SVIX.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Browser Extension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JavaScript, Chrome Manifest V3.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Database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sz="3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MongoDB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80" y="2602475"/>
            <a:ext cx="16466745" cy="640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532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60" b="-9260"/>
            </a:stretch>
          </a:blipFill>
          <a:ln>
            <a:noFill/>
          </a:ln>
        </p:spPr>
      </p:sp>
      <p:sp>
        <p:nvSpPr>
          <p:cNvPr id="151" name="Google Shape;151;p17"/>
          <p:cNvSpPr/>
          <p:nvPr/>
        </p:nvSpPr>
        <p:spPr>
          <a:xfrm>
            <a:off x="1028700" y="668427"/>
            <a:ext cx="451941" cy="451941"/>
          </a:xfrm>
          <a:custGeom>
            <a:avLst/>
            <a:gdLst/>
            <a:ahLst/>
            <a:cxnLst/>
            <a:rect l="l" t="t" r="r" b="b"/>
            <a:pathLst>
              <a:path w="451941" h="451941" extrusionOk="0">
                <a:moveTo>
                  <a:pt x="0" y="0"/>
                </a:moveTo>
                <a:lnTo>
                  <a:pt x="451941" y="0"/>
                </a:lnTo>
                <a:lnTo>
                  <a:pt x="451941" y="451941"/>
                </a:lnTo>
                <a:lnTo>
                  <a:pt x="0" y="451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2" name="Google Shape;152;p17"/>
          <p:cNvSpPr txBox="1"/>
          <p:nvPr/>
        </p:nvSpPr>
        <p:spPr>
          <a:xfrm>
            <a:off x="1695851" y="674370"/>
            <a:ext cx="188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Wardiere Inc.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5662204" y="674370"/>
            <a:ext cx="188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203434" y="674370"/>
            <a:ext cx="188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About Us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0744664" y="674370"/>
            <a:ext cx="188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Wardiere Inc.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6032526" y="674370"/>
            <a:ext cx="1226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10638"/>
                </a:solidFill>
                <a:latin typeface="Arial"/>
                <a:ea typeface="Arial"/>
                <a:cs typeface="Arial"/>
                <a:sym typeface="Arial"/>
              </a:rPr>
              <a:t>Contact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97750" y="3142150"/>
            <a:ext cx="131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028701" y="1657418"/>
            <a:ext cx="16090066" cy="7478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Implementation Methodology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Data Capture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Audio is ingested via device microphone, file uploads, or YouTube links.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Phase 1 - Audio Processing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Utilizes the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OpenAI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Whisper model to accurately convert multilingual audio streams into raw text.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Phase 2 - Intelligence Layer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A custom-trained model processes the raw text to translate, summarize, and format structural logic flawlessly.</a:t>
            </a:r>
          </a:p>
          <a:p>
            <a:pPr marL="800100" marR="0" lvl="1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Training Technique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Low-Rank Adaptation (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LoRA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 was used for fine-tuning. This technique injects small trainable matrices into transformer layers, drastically reducing the memory footprint while maintaining high performance.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Phase 3 - Visual Output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The custom model outputs formatted syntax directly into the Mermaid.js rendering engine to auto-generate visual flowcharts.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/>
          <p:nvPr/>
        </p:nvSpPr>
        <p:spPr>
          <a:xfrm>
            <a:off x="0" y="0"/>
            <a:ext cx="18441075" cy="1044345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59" b="-9259"/>
            </a:stretch>
          </a:blipFill>
          <a:ln>
            <a:noFill/>
          </a:ln>
        </p:spPr>
      </p:sp>
      <p:sp>
        <p:nvSpPr>
          <p:cNvPr id="165" name="Google Shape;165;p18"/>
          <p:cNvSpPr/>
          <p:nvPr/>
        </p:nvSpPr>
        <p:spPr>
          <a:xfrm>
            <a:off x="-3557043" y="-5691119"/>
            <a:ext cx="22712801" cy="22712801"/>
          </a:xfrm>
          <a:custGeom>
            <a:avLst/>
            <a:gdLst/>
            <a:ahLst/>
            <a:cxnLst/>
            <a:rect l="l" t="t" r="r" b="b"/>
            <a:pathLst>
              <a:path w="22712801" h="22712801" extrusionOk="0">
                <a:moveTo>
                  <a:pt x="0" y="0"/>
                </a:moveTo>
                <a:lnTo>
                  <a:pt x="22712801" y="0"/>
                </a:lnTo>
                <a:lnTo>
                  <a:pt x="22712801" y="22712801"/>
                </a:lnTo>
                <a:lnTo>
                  <a:pt x="0" y="22712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6" name="Google Shape;166;p18"/>
          <p:cNvSpPr/>
          <p:nvPr/>
        </p:nvSpPr>
        <p:spPr>
          <a:xfrm>
            <a:off x="1028700" y="668427"/>
            <a:ext cx="451941" cy="451941"/>
          </a:xfrm>
          <a:custGeom>
            <a:avLst/>
            <a:gdLst/>
            <a:ahLst/>
            <a:cxnLst/>
            <a:rect l="l" t="t" r="r" b="b"/>
            <a:pathLst>
              <a:path w="451941" h="451941" extrusionOk="0">
                <a:moveTo>
                  <a:pt x="0" y="0"/>
                </a:moveTo>
                <a:lnTo>
                  <a:pt x="451941" y="0"/>
                </a:lnTo>
                <a:lnTo>
                  <a:pt x="451941" y="451941"/>
                </a:lnTo>
                <a:lnTo>
                  <a:pt x="0" y="451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7" name="Google Shape;167;p18"/>
          <p:cNvSpPr/>
          <p:nvPr/>
        </p:nvSpPr>
        <p:spPr>
          <a:xfrm>
            <a:off x="9834267" y="8221140"/>
            <a:ext cx="1450334" cy="1440665"/>
          </a:xfrm>
          <a:custGeom>
            <a:avLst/>
            <a:gdLst/>
            <a:ahLst/>
            <a:cxnLst/>
            <a:rect l="l" t="t" r="r" b="b"/>
            <a:pathLst>
              <a:path w="1450334" h="1440665" extrusionOk="0">
                <a:moveTo>
                  <a:pt x="0" y="0"/>
                </a:moveTo>
                <a:lnTo>
                  <a:pt x="1450334" y="0"/>
                </a:lnTo>
                <a:lnTo>
                  <a:pt x="1450334" y="1440665"/>
                </a:lnTo>
                <a:lnTo>
                  <a:pt x="0" y="14406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8" name="Google Shape;168;p18"/>
          <p:cNvSpPr/>
          <p:nvPr/>
        </p:nvSpPr>
        <p:spPr>
          <a:xfrm>
            <a:off x="7664986" y="8241532"/>
            <a:ext cx="1450334" cy="1440665"/>
          </a:xfrm>
          <a:custGeom>
            <a:avLst/>
            <a:gdLst/>
            <a:ahLst/>
            <a:cxnLst/>
            <a:rect l="l" t="t" r="r" b="b"/>
            <a:pathLst>
              <a:path w="1450334" h="1440665" extrusionOk="0">
                <a:moveTo>
                  <a:pt x="0" y="0"/>
                </a:moveTo>
                <a:lnTo>
                  <a:pt x="1450334" y="0"/>
                </a:lnTo>
                <a:lnTo>
                  <a:pt x="1450334" y="1440665"/>
                </a:lnTo>
                <a:lnTo>
                  <a:pt x="0" y="14406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9" name="Google Shape;169;p18"/>
          <p:cNvSpPr/>
          <p:nvPr/>
        </p:nvSpPr>
        <p:spPr>
          <a:xfrm>
            <a:off x="5527073" y="8265156"/>
            <a:ext cx="1450334" cy="1440665"/>
          </a:xfrm>
          <a:custGeom>
            <a:avLst/>
            <a:gdLst/>
            <a:ahLst/>
            <a:cxnLst/>
            <a:rect l="l" t="t" r="r" b="b"/>
            <a:pathLst>
              <a:path w="1450334" h="1440665" extrusionOk="0">
                <a:moveTo>
                  <a:pt x="0" y="0"/>
                </a:moveTo>
                <a:lnTo>
                  <a:pt x="1450334" y="0"/>
                </a:lnTo>
                <a:lnTo>
                  <a:pt x="1450334" y="1440665"/>
                </a:lnTo>
                <a:lnTo>
                  <a:pt x="0" y="14406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0" name="Google Shape;170;p18"/>
          <p:cNvSpPr txBox="1"/>
          <p:nvPr/>
        </p:nvSpPr>
        <p:spPr>
          <a:xfrm>
            <a:off x="1695851" y="674370"/>
            <a:ext cx="1881132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Wardiere Inc.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5662204" y="674370"/>
            <a:ext cx="1881132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8203434" y="674370"/>
            <a:ext cx="1881132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About Us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10744664" y="674370"/>
            <a:ext cx="1881132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Wardiere Inc.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16032525" y="674375"/>
            <a:ext cx="1450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Contact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713386" y="1884710"/>
            <a:ext cx="12877800" cy="6832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Results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System Performance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The foundational audio processing pipeline operates seamlessly within modern web environments, converting speech to text with high accuracy across varying acoustic conditions.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Latency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End-to-end latency remains within acceptable thresholds, ensuring near-real-time feedback without compromising transcription fidelity.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 Consistency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Clerk </a:t>
            </a:r>
            <a:r>
              <a:rPr kumimoji="0" lang="en-U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Webhooks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manage reliable, event-driven profile synchronization, automatically propagating changes to </a:t>
            </a:r>
            <a:r>
              <a:rPr kumimoji="0" lang="en-U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MongoDB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and reducing administrative overhead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60" b="-9260"/>
            </a:stretch>
          </a:blipFill>
          <a:ln>
            <a:noFill/>
          </a:ln>
        </p:spPr>
      </p:sp>
      <p:sp>
        <p:nvSpPr>
          <p:cNvPr id="185" name="Google Shape;185;p19"/>
          <p:cNvSpPr/>
          <p:nvPr/>
        </p:nvSpPr>
        <p:spPr>
          <a:xfrm>
            <a:off x="1028700" y="668427"/>
            <a:ext cx="451941" cy="451941"/>
          </a:xfrm>
          <a:custGeom>
            <a:avLst/>
            <a:gdLst/>
            <a:ahLst/>
            <a:cxnLst/>
            <a:rect l="l" t="t" r="r" b="b"/>
            <a:pathLst>
              <a:path w="451941" h="451941" extrusionOk="0">
                <a:moveTo>
                  <a:pt x="0" y="0"/>
                </a:moveTo>
                <a:lnTo>
                  <a:pt x="451941" y="0"/>
                </a:lnTo>
                <a:lnTo>
                  <a:pt x="451941" y="451941"/>
                </a:lnTo>
                <a:lnTo>
                  <a:pt x="0" y="451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6" name="Google Shape;186;p19"/>
          <p:cNvSpPr/>
          <p:nvPr/>
        </p:nvSpPr>
        <p:spPr>
          <a:xfrm>
            <a:off x="8411337" y="8408753"/>
            <a:ext cx="1450334" cy="1440665"/>
          </a:xfrm>
          <a:custGeom>
            <a:avLst/>
            <a:gdLst/>
            <a:ahLst/>
            <a:cxnLst/>
            <a:rect l="l" t="t" r="r" b="b"/>
            <a:pathLst>
              <a:path w="1450334" h="1440665" extrusionOk="0">
                <a:moveTo>
                  <a:pt x="0" y="0"/>
                </a:moveTo>
                <a:lnTo>
                  <a:pt x="1450334" y="0"/>
                </a:lnTo>
                <a:lnTo>
                  <a:pt x="1450334" y="1440665"/>
                </a:lnTo>
                <a:lnTo>
                  <a:pt x="0" y="14406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7" name="Google Shape;187;p19"/>
          <p:cNvSpPr/>
          <p:nvPr/>
        </p:nvSpPr>
        <p:spPr>
          <a:xfrm>
            <a:off x="13926189" y="8408753"/>
            <a:ext cx="1450334" cy="1440665"/>
          </a:xfrm>
          <a:custGeom>
            <a:avLst/>
            <a:gdLst/>
            <a:ahLst/>
            <a:cxnLst/>
            <a:rect l="l" t="t" r="r" b="b"/>
            <a:pathLst>
              <a:path w="1450334" h="1440665" extrusionOk="0">
                <a:moveTo>
                  <a:pt x="0" y="0"/>
                </a:moveTo>
                <a:lnTo>
                  <a:pt x="1450334" y="0"/>
                </a:lnTo>
                <a:lnTo>
                  <a:pt x="1450334" y="1440665"/>
                </a:lnTo>
                <a:lnTo>
                  <a:pt x="0" y="14406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8" name="Google Shape;188;p19"/>
          <p:cNvSpPr/>
          <p:nvPr/>
        </p:nvSpPr>
        <p:spPr>
          <a:xfrm>
            <a:off x="2126517" y="8315404"/>
            <a:ext cx="1450334" cy="1440665"/>
          </a:xfrm>
          <a:custGeom>
            <a:avLst/>
            <a:gdLst/>
            <a:ahLst/>
            <a:cxnLst/>
            <a:rect l="l" t="t" r="r" b="b"/>
            <a:pathLst>
              <a:path w="1450334" h="1440665" extrusionOk="0">
                <a:moveTo>
                  <a:pt x="0" y="0"/>
                </a:moveTo>
                <a:lnTo>
                  <a:pt x="1450334" y="0"/>
                </a:lnTo>
                <a:lnTo>
                  <a:pt x="1450334" y="1440665"/>
                </a:lnTo>
                <a:lnTo>
                  <a:pt x="0" y="14406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9" name="Google Shape;189;p19"/>
          <p:cNvSpPr txBox="1"/>
          <p:nvPr/>
        </p:nvSpPr>
        <p:spPr>
          <a:xfrm>
            <a:off x="1695851" y="674370"/>
            <a:ext cx="188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Wardiere Inc.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5662204" y="674370"/>
            <a:ext cx="188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8203434" y="674370"/>
            <a:ext cx="188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About Us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10744664" y="674370"/>
            <a:ext cx="188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Wardiere Inc.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16032525" y="674375"/>
            <a:ext cx="1450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Contact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184222" y="1845677"/>
            <a:ext cx="15904565" cy="7109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Conclusion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Spoly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successfully demonstrates the effective application of modern web technologies to address the friction between capturing spoken information and transforming it into structured, actionable knowledge</a:t>
            </a:r>
            <a:r>
              <a:rPr kumimoji="0" 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By deliberately decoupling audio capture, server-side processing, and frontend visualization, the system achieves a balanced combination of scalability, maintainability, and operational performance.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Rigorous testing has confirmed the system’s resilience and production readiness across diverse audio qualities and network latencies.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Google Shape;263;p25"/>
          <p:cNvSpPr/>
          <p:nvPr/>
        </p:nvSpPr>
        <p:spPr>
          <a:xfrm rot="15277302">
            <a:off x="17221991" y="415317"/>
            <a:ext cx="5338160" cy="5874178"/>
          </a:xfrm>
          <a:custGeom>
            <a:avLst/>
            <a:gdLst/>
            <a:ahLst/>
            <a:cxnLst/>
            <a:rect l="l" t="t" r="r" b="b"/>
            <a:pathLst>
              <a:path w="5338160" h="5874178" extrusionOk="0">
                <a:moveTo>
                  <a:pt x="0" y="0"/>
                </a:moveTo>
                <a:lnTo>
                  <a:pt x="5338160" y="0"/>
                </a:lnTo>
                <a:lnTo>
                  <a:pt x="5338160" y="5874178"/>
                </a:lnTo>
                <a:lnTo>
                  <a:pt x="0" y="58741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" name="Google Shape;264;p25"/>
          <p:cNvSpPr/>
          <p:nvPr/>
        </p:nvSpPr>
        <p:spPr>
          <a:xfrm rot="8729226">
            <a:off x="-3886283" y="1865297"/>
            <a:ext cx="5680795" cy="6200049"/>
          </a:xfrm>
          <a:custGeom>
            <a:avLst/>
            <a:gdLst/>
            <a:ahLst/>
            <a:cxnLst/>
            <a:rect l="l" t="t" r="r" b="b"/>
            <a:pathLst>
              <a:path w="5680795" h="6200049" extrusionOk="0">
                <a:moveTo>
                  <a:pt x="0" y="0"/>
                </a:moveTo>
                <a:lnTo>
                  <a:pt x="5680794" y="0"/>
                </a:lnTo>
                <a:lnTo>
                  <a:pt x="5680794" y="6200049"/>
                </a:lnTo>
                <a:lnTo>
                  <a:pt x="0" y="6200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60" b="-9260"/>
            </a:stretch>
          </a:blipFill>
          <a:ln>
            <a:noFill/>
          </a:ln>
        </p:spPr>
      </p:sp>
      <p:sp>
        <p:nvSpPr>
          <p:cNvPr id="201" name="Google Shape;201;p20"/>
          <p:cNvSpPr/>
          <p:nvPr/>
        </p:nvSpPr>
        <p:spPr>
          <a:xfrm>
            <a:off x="1028700" y="668427"/>
            <a:ext cx="451941" cy="451941"/>
          </a:xfrm>
          <a:custGeom>
            <a:avLst/>
            <a:gdLst/>
            <a:ahLst/>
            <a:cxnLst/>
            <a:rect l="l" t="t" r="r" b="b"/>
            <a:pathLst>
              <a:path w="451941" h="451941" extrusionOk="0">
                <a:moveTo>
                  <a:pt x="0" y="0"/>
                </a:moveTo>
                <a:lnTo>
                  <a:pt x="451941" y="0"/>
                </a:lnTo>
                <a:lnTo>
                  <a:pt x="451941" y="451941"/>
                </a:lnTo>
                <a:lnTo>
                  <a:pt x="0" y="451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Google Shape;202;p20"/>
          <p:cNvSpPr txBox="1"/>
          <p:nvPr/>
        </p:nvSpPr>
        <p:spPr>
          <a:xfrm>
            <a:off x="1695851" y="674370"/>
            <a:ext cx="188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Wardiere Inc.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5662204" y="674370"/>
            <a:ext cx="188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8203434" y="674370"/>
            <a:ext cx="188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About Us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10744664" y="674370"/>
            <a:ext cx="188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Wardiere Inc.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16032525" y="674375"/>
            <a:ext cx="1450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Contact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319134" y="1217281"/>
            <a:ext cx="15964525" cy="8463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Future Scope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Template Marketplace</a:t>
            </a:r>
            <a:r>
              <a:rPr kumimoji="0" lang="en-US" sz="3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3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Expanding the backend to support a community-driven prompt template marketplace for domain-specific, collaborative optimization.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Workspace Optimization</a:t>
            </a:r>
            <a:r>
              <a:rPr kumimoji="0" lang="en-US" sz="3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3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Improving workspace organization with a hierarchical folder-based categorization system, metadata tagging, and full-text search indexing.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Offline Processing</a:t>
            </a:r>
            <a:r>
              <a:rPr kumimoji="0" lang="en-US" sz="3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3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Transitioning toward fine-tuned, localized open-source language models deployed directly on edge devices to process audio entirely offline, ensuring stricter data privacy and eliminating API costs.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60" b="-9260"/>
            </a:stretch>
          </a:blipFill>
          <a:ln>
            <a:noFill/>
          </a:ln>
        </p:spPr>
      </p:sp>
      <p:sp>
        <p:nvSpPr>
          <p:cNvPr id="201" name="Google Shape;201;p20"/>
          <p:cNvSpPr/>
          <p:nvPr/>
        </p:nvSpPr>
        <p:spPr>
          <a:xfrm>
            <a:off x="1028700" y="668427"/>
            <a:ext cx="451941" cy="451941"/>
          </a:xfrm>
          <a:custGeom>
            <a:avLst/>
            <a:gdLst/>
            <a:ahLst/>
            <a:cxnLst/>
            <a:rect l="l" t="t" r="r" b="b"/>
            <a:pathLst>
              <a:path w="451941" h="451941" extrusionOk="0">
                <a:moveTo>
                  <a:pt x="0" y="0"/>
                </a:moveTo>
                <a:lnTo>
                  <a:pt x="451941" y="0"/>
                </a:lnTo>
                <a:lnTo>
                  <a:pt x="451941" y="451941"/>
                </a:lnTo>
                <a:lnTo>
                  <a:pt x="0" y="451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Google Shape;202;p20"/>
          <p:cNvSpPr txBox="1"/>
          <p:nvPr/>
        </p:nvSpPr>
        <p:spPr>
          <a:xfrm>
            <a:off x="1695851" y="674370"/>
            <a:ext cx="188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Wardiere Inc.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5662204" y="674370"/>
            <a:ext cx="188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8203434" y="674370"/>
            <a:ext cx="188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About Us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10744664" y="674370"/>
            <a:ext cx="188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Wardiere Inc.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16032525" y="674375"/>
            <a:ext cx="1450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Contact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64499" y="1556758"/>
            <a:ext cx="16718226" cy="7879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References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J. Smith, A. Doe, and L. Chen, "Leveraging Discourse Structure for Extractive Meeting Summarization,"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preprint arXiv:2401.12345, 2024</a:t>
            </a:r>
            <a:r>
              <a:rPr kumimoji="0" 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M. Johnson and K. Lee, "Automatic Speech Recognition Post-Processing for Readability," in 2022 IEEE ICASSP, Singapore, 2022, pp. 1023-1027.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R. Williams and T. Brown, "Flowchart2Mermaid: Converting Visuals to Editable Diagram Code,"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preprint arXiv:2502.09876, 2025.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S. Davis, E. Wilson, and P. Taylor, "Augmenting Teamwork through AI Agents as Collaborators," in Proceedings of the 2025 ACM/IEEE International Conference on Human-Computer Interaction, 2025, pp. 45-52.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S.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Ramírez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"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High performance, easy to learn, fast to code, ready for production,"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Documentation, 2023.</a:t>
            </a:r>
          </a:p>
          <a:p>
            <a:pPr marL="457200" marR="0" lvl="0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Google Developers, "Chrome Extensions: Manifest V3 Architecture," Google Chrome Extension Documentation, 2024.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862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59" b="-9259"/>
            </a:stretch>
          </a:blipFill>
          <a:ln>
            <a:noFill/>
          </a:ln>
        </p:spPr>
      </p:sp>
      <p:sp>
        <p:nvSpPr>
          <p:cNvPr id="262" name="Google Shape;262;p25"/>
          <p:cNvSpPr/>
          <p:nvPr/>
        </p:nvSpPr>
        <p:spPr>
          <a:xfrm>
            <a:off x="1028700" y="668427"/>
            <a:ext cx="451941" cy="451941"/>
          </a:xfrm>
          <a:custGeom>
            <a:avLst/>
            <a:gdLst/>
            <a:ahLst/>
            <a:cxnLst/>
            <a:rect l="l" t="t" r="r" b="b"/>
            <a:pathLst>
              <a:path w="451941" h="451941" extrusionOk="0">
                <a:moveTo>
                  <a:pt x="0" y="0"/>
                </a:moveTo>
                <a:lnTo>
                  <a:pt x="451941" y="0"/>
                </a:lnTo>
                <a:lnTo>
                  <a:pt x="451941" y="451941"/>
                </a:lnTo>
                <a:lnTo>
                  <a:pt x="0" y="451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63" name="Google Shape;263;p25"/>
          <p:cNvSpPr/>
          <p:nvPr/>
        </p:nvSpPr>
        <p:spPr>
          <a:xfrm rot="-6322698">
            <a:off x="-401729" y="1965119"/>
            <a:ext cx="5338160" cy="5874178"/>
          </a:xfrm>
          <a:custGeom>
            <a:avLst/>
            <a:gdLst/>
            <a:ahLst/>
            <a:cxnLst/>
            <a:rect l="l" t="t" r="r" b="b"/>
            <a:pathLst>
              <a:path w="5338160" h="5874178" extrusionOk="0">
                <a:moveTo>
                  <a:pt x="0" y="0"/>
                </a:moveTo>
                <a:lnTo>
                  <a:pt x="5338160" y="0"/>
                </a:lnTo>
                <a:lnTo>
                  <a:pt x="5338160" y="5874178"/>
                </a:lnTo>
                <a:lnTo>
                  <a:pt x="0" y="58741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64" name="Google Shape;264;p25"/>
          <p:cNvSpPr/>
          <p:nvPr/>
        </p:nvSpPr>
        <p:spPr>
          <a:xfrm rot="8729226">
            <a:off x="14493303" y="2184105"/>
            <a:ext cx="5680795" cy="6200049"/>
          </a:xfrm>
          <a:custGeom>
            <a:avLst/>
            <a:gdLst/>
            <a:ahLst/>
            <a:cxnLst/>
            <a:rect l="l" t="t" r="r" b="b"/>
            <a:pathLst>
              <a:path w="5680795" h="6200049" extrusionOk="0">
                <a:moveTo>
                  <a:pt x="0" y="0"/>
                </a:moveTo>
                <a:lnTo>
                  <a:pt x="5680794" y="0"/>
                </a:lnTo>
                <a:lnTo>
                  <a:pt x="5680794" y="6200049"/>
                </a:lnTo>
                <a:lnTo>
                  <a:pt x="0" y="6200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65" name="Google Shape;265;p25"/>
          <p:cNvSpPr txBox="1"/>
          <p:nvPr/>
        </p:nvSpPr>
        <p:spPr>
          <a:xfrm>
            <a:off x="5662204" y="674370"/>
            <a:ext cx="1881132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8203434" y="674370"/>
            <a:ext cx="1881132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About Us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10744664" y="674370"/>
            <a:ext cx="1881132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Wardiere Inc.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2842166" y="3923644"/>
            <a:ext cx="12603667" cy="2144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175" b="1" i="0" u="none" strike="noStrike" cap="none">
                <a:solidFill>
                  <a:srgbClr val="E9E9E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938</Words>
  <Application>Microsoft Office PowerPoint</Application>
  <PresentationFormat>Custom</PresentationFormat>
  <Paragraphs>113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Ashish Chaurasiya</cp:lastModifiedBy>
  <cp:revision>18</cp:revision>
  <dcterms:modified xsi:type="dcterms:W3CDTF">2026-04-20T04:11:53Z</dcterms:modified>
</cp:coreProperties>
</file>